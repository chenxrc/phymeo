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e2528cff0647d5" /><Relationship Type="http://schemas.openxmlformats.org/officeDocument/2006/relationships/extended-properties" Target="/docProps/app.xml" Id="Rbeac418c730848af" /><Relationship Type="http://schemas.openxmlformats.org/officeDocument/2006/relationships/officeDocument" Target="/ppt/presentation.xml" Id="Rd98193aa4bac41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04916c0cc14fba"/>
  </p:sldMasterIdLst>
  <p:notesMasterIdLst>
    <p:notesMasterId xmlns:r="http://schemas.openxmlformats.org/officeDocument/2006/relationships" r:id="R7e492eb6322a45ac"/>
  </p:notesMasterIdLst>
  <p:sldIdLst>
    <p:sldId xmlns:r="http://schemas.openxmlformats.org/officeDocument/2006/relationships" id="256" r:id="R4bc2a4df89c94d3b"/>
    <p:sldId xmlns:r="http://schemas.openxmlformats.org/officeDocument/2006/relationships" id="257" r:id="R98de7ec1681e4a7d"/>
    <p:sldId xmlns:r="http://schemas.openxmlformats.org/officeDocument/2006/relationships" id="258" r:id="R3ade9165be4942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28c4a326284821" /><Relationship Type="http://schemas.openxmlformats.org/officeDocument/2006/relationships/slideMaster" Target="/ppt/slideMasters/slideMaster1.xml" Id="R5804916c0cc14fba" /><Relationship Type="http://schemas.openxmlformats.org/officeDocument/2006/relationships/notesMaster" Target="/ppt/notesMasters/notesMaster1.xml" Id="R7e492eb6322a45ac" /><Relationship Type="http://schemas.openxmlformats.org/officeDocument/2006/relationships/presProps" Target="/ppt/presProps.xml" Id="R3a9fb949044e4bfc" /><Relationship Type="http://schemas.openxmlformats.org/officeDocument/2006/relationships/tableStyles" Target="/ppt/tableStyles.xml" Id="R22a690aeca2c496c" /><Relationship Type="http://schemas.openxmlformats.org/officeDocument/2006/relationships/slide" Target="/ppt/slides/slide1.xml" Id="R4bc2a4df89c94d3b" /><Relationship Type="http://schemas.openxmlformats.org/officeDocument/2006/relationships/slide" Target="/ppt/slides/slide2.xml" Id="R98de7ec1681e4a7d" /><Relationship Type="http://schemas.openxmlformats.org/officeDocument/2006/relationships/slide" Target="/ppt/slides/slide3.xml" Id="R3ade9165be4942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78c75de033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90fa2bb7b44751" /><Relationship Type="http://schemas.openxmlformats.org/officeDocument/2006/relationships/notesMaster" Target="/ppt/notesMasters/notesMaster1.xml" Id="Ree021269b32948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8d88a034bd40c2" /><Relationship Type="http://schemas.openxmlformats.org/officeDocument/2006/relationships/notesMaster" Target="/ppt/notesMasters/notesMaster1.xml" Id="R1ca7b4ac4e8741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3bcedb4cf74f9d" /><Relationship Type="http://schemas.openxmlformats.org/officeDocument/2006/relationships/notesMaster" Target="/ppt/notesMasters/notesMaster1.xml" Id="Rd3885d96909748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依据2026-10-28查阅的Newton main/latest官方资料独立归纳，不复制源码。</a:t>
            </a:r>
          </a:p>
          <a:p xmlns:a="http://schemas.openxmlformats.org/drawingml/2006/main">
            <a:r>
              <a:t>https://github.com/newton-physics/newton</a:t>
            </a:r>
          </a:p>
          <a:p xmlns:a="http://schemas.openxmlformats.org/drawingml/2006/main">
            <a:r>
              <a:t>https://newton-physics.github.io/newton/latest/solvers/index.html</a:t>
            </a:r>
          </a:p>
          <a:p xmlns:a="http://schemas.openxmlformats.org/drawingml/2006/main">
            <a:r>
              <a:t>https://newton-physics.github.io/newton/latest/concepts/coupling.html</a:t>
            </a:r>
          </a:p>
          <a:p xmlns:a="http://schemas.openxmlformats.org/drawingml/2006/main">
            <a:r>
              <a:t>https://newton-physics.github.io/newton/latest/concepts/collisions.html</a:t>
            </a:r>
          </a:p>
          <a:p xmlns:a="http://schemas.openxmlformats.org/drawingml/2006/main">
            <a:r>
              <a:t>https://newton-physics.github.io/newton/latest/api/newton.html</a:t>
            </a:r>
          </a:p>
          <a:p xmlns:a="http://schemas.openxmlformats.org/drawingml/2006/main">
            <a:r>
              <a:t>这是架构概括，能力取决于具体solver与版本。Coupled模块为实验性；MuJoCo默认可以使用自己的接触流水线，图中表示通用Newton数据路径而非强制唯一实现。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Phymeo快照：codex/p6-5-handoff，提交10f8cdd72ee4c4d009386267f8adab35ed427255。</a:t>
            </a:r>
          </a:p>
          <a:p xmlns:a="http://schemas.openxmlformats.org/drawingml/2006/main">
            <a:r>
              <a:t>源文件：src/phymeo/runtime/scene_stepper.py；src/phymeo/coupling/participant.py；src/phymeo/coupling/surface_port.py；src/phymeo/coupling/domain_graph.py；src/phymeo/backends/tyx_participants.py；docs/architecture/overview.md；docs/benchmarks/p65-window-delivery.md。</a:t>
            </a:r>
          </a:p>
          <a:p xmlns:a="http://schemas.openxmlformats.org/drawingml/2006/main">
            <a:r>
              <a:t>Newton参考：https://newton-physics.github.io/newton/latest/concepts/coupling.html 与 https://newton-physics.github.io/newton/latest/solvers/index.html 。</a:t>
            </a:r>
          </a:p>
          <a:p xmlns:a="http://schemas.openxmlformats.org/drawingml/2006/main">
            <a:r>
              <a:t>Phymeo从数学原理独立实现；图示强调当前runtime合同，不代表完整物理引擎能力已与Newton等价。tyx设备算术FP32，主机FP64验算只接受/拒绝，不替代设备结果。学习入口有基础合同与小例，未完成生产AI加速。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当前代码与工程快照10f8cdd；测试数字见docs/benchmarks/p65-offset-engineering.json：CUDA1559，两个Python核心环境各1284；源码外wheel108文件一致；远程CI在本次推送后独立核对。</a:t>
            </a:r>
          </a:p>
          <a:p xmlns:a="http://schemas.openxmlformats.org/drawingml/2006/main">
            <a:r>
              <a:t>P6完整物理对照：S2/S3/S4各200帧400子步，最大节点差4.419/10.902/24.206微米，见docs/benchmarks/p6-device.json及p6-acceptance.md。这些是冻结短场景的精度证据，不是任意复杂场景保证。</a:t>
            </a:r>
          </a:p>
          <a:p xmlns:a="http://schemas.openxmlformats.org/drawingml/2006/main">
            <a:r>
              <a:t>截图来源docs/demos/articulated-s4.png，是既有P5 NumPy参考S4回放的真实截屏；P6沿用同类模型做设备验证。截图不是CUDA画面，不是双臂，不是Three.js，也不是完整网格碰撞。截图在PPT中裁剪以显示主体，未改动仿真内容。</a:t>
            </a:r>
          </a:p>
          <a:p xmlns:a="http://schemas.openxmlformats.org/drawingml/2006/main">
            <a:r>
              <a:t>P6.5原六个基础加本次厚度端口共七项，范围见docs/benchmarks/p65-offset-acceptance.md与docs/development/p65-continuation.md。Three.js可显示机器人变换、布网格和接触箭头，但不提供物理正确性。目标是离线真实仿真加同源回放，不是动画或实时求解器。</a:t>
            </a:r>
          </a:p>
          <a:p xmlns:a="http://schemas.openxmlformats.org/drawingml/2006/main">
            <a:r>
              <a:t>Three.js官方文档：https://threejs.org/docs/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7ccd9c92448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8d57bf6f04d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4a04daef84f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b1b0de0d542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801e965ea4b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a303bcd9a40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4BC5C2-A890-4FB8-99A8-5E161CE87A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8F02D4-3F4F-4BCB-8645-ADBCCF3E9C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086CFC-45EC-42F9-94B1-0859AF1E9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AE03F1-C215-4FDD-885B-449D87C143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E45FA0-EEFA-4D66-A1BD-B275AF12FE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A5D3F5-8D72-4FA7-A02C-DC7448508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B6346B-399F-43D8-BAE8-FB4850A10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8E3AB1-6DD3-4A37-B040-EC77A51EFA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F8BC06-4698-4425-976A-AC6A8C9442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120123-C564-40E7-82F1-3B8A58E497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7b670d20a84c2e" /><Relationship Type="http://schemas.openxmlformats.org/officeDocument/2006/relationships/slideLayout" Target="/ppt/slideLayouts/slideLayout1.xml" Id="R8a9d1517ea3142f3" /><Relationship Type="http://schemas.openxmlformats.org/officeDocument/2006/relationships/slideLayout" Target="/ppt/slideLayouts/slideLayout2.xml" Id="R76409f6a8061426c" /><Relationship Type="http://schemas.openxmlformats.org/officeDocument/2006/relationships/slideLayout" Target="/ppt/slideLayouts/slideLayout3.xml" Id="R7c6426035dca4690" /><Relationship Type="http://schemas.openxmlformats.org/officeDocument/2006/relationships/slideLayout" Target="/ppt/slideLayouts/slideLayout4.xml" Id="Rb556544654d84a22" /><Relationship Type="http://schemas.openxmlformats.org/officeDocument/2006/relationships/slideLayout" Target="/ppt/slideLayouts/slideLayout5.xml" Id="R7bdd6f962fe44693" /><Relationship Type="http://schemas.openxmlformats.org/officeDocument/2006/relationships/slideLayout" Target="/ppt/slideLayouts/slideLayout6.xml" Id="Ra56d4c0231c445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9d1517ea3142f3"/>
    <p:sldLayoutId xmlns:r="http://schemas.openxmlformats.org/officeDocument/2006/relationships" id="2147483650" r:id="R76409f6a8061426c"/>
    <p:sldLayoutId xmlns:r="http://schemas.openxmlformats.org/officeDocument/2006/relationships" id="2147483651" r:id="R7c6426035dca4690"/>
    <p:sldLayoutId xmlns:r="http://schemas.openxmlformats.org/officeDocument/2006/relationships" id="2147483652" r:id="Rb556544654d84a22"/>
    <p:sldLayoutId xmlns:r="http://schemas.openxmlformats.org/officeDocument/2006/relationships" id="2147483653" r:id="R7bdd6f962fe44693"/>
    <p:sldLayoutId xmlns:r="http://schemas.openxmlformats.org/officeDocument/2006/relationships" id="2147483654" r:id="Ra56d4c0231c445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675f1365b44ab" /><Relationship Type="http://schemas.openxmlformats.org/officeDocument/2006/relationships/notesSlide" Target="/ppt/notesSlides/notesSlide1.xml" Id="R5d8b2396e4c745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ee4b05d314497" /><Relationship Type="http://schemas.openxmlformats.org/officeDocument/2006/relationships/notesSlide" Target="/ppt/notesSlides/notesSlide2.xml" Id="R13b71d4ab10e4d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55083235a40a5" /><Relationship Type="http://schemas.openxmlformats.org/officeDocument/2006/relationships/image" Target="/ppt/media/image.png" Id="R9d31d915a8664770" /><Relationship Type="http://schemas.openxmlformats.org/officeDocument/2006/relationships/notesSlide" Target="/ppt/notesSlides/notesSlide3.xml" Id="R67479392cb0542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6FD8E-0148-4CE7-8DCD-516486C2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Newton：共享模型与多求解器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1F1EA-7FD9-431B-9541-DFA8B9E0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rPr>
              <a:t>建模、状态、碰撞与算法分层；Warp 是共同计算底座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958FA-2DF2-4C8F-B89B-B2366FB3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53ED1-1F7B-47BD-9FC4-18AEDFE4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URDF / MJCF / USD</a:t>
            </a:r>
          </a:p>
          <a:p xmlns:a="http://schemas.openxmlformats.org/drawingml/2006/main">
            <a:pPr algn="ctr">
              <a:def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程序化场景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4AA48-0971-46EE-901C-803D73DF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002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7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CCD1A-8561-4FE3-A896-21AD7318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14525"/>
            <a:ext cx="2057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06BAB-718B-4046-81B2-4E4C4C5C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ModelBuilder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09DB0-76A1-434B-AD0C-17B7FE2B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02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7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07A19-160D-40CD-BD55-6B5A4660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14525"/>
            <a:ext cx="2057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2F2E5-4677-4778-A648-476AFDDB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  <a:p xmlns:a="http://schemas.openxmlformats.org/drawingml/2006/main">
            <a: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拓扑 · 质量 · 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E01FB-DCF6-4F20-BFD9-117EE81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33675"/>
            <a:ext cx="19050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67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9C925-1596-447B-81E1-E8ED139A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rPr>
              <a:t>Model 初始化状态与求解器；碰撞检测读取当前状态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A6704-CDAC-41F4-9ED0-07186423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1710C-01BF-4313-89A1-19005CB9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State / Control</a:t>
            </a:r>
          </a:p>
          <a:p xmlns:a="http://schemas.openxmlformats.org/drawingml/2006/main">
            <a: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当前状态与驱动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0437B-67E6-4097-9867-77608A4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4152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5D934-2A95-4537-B2A1-3E145340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48025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CollisionPipeline → Contacts</a:t>
            </a:r>
          </a:p>
          <a:p xmlns:a="http://schemas.openxmlformats.org/drawingml/2006/main">
            <a:pPr algn="ctr">
              <a:def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几何接触交给求解器消费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7CA93-3798-4F95-BA7F-196053B2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62400"/>
            <a:ext cx="19050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67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7463F-81AE-4BD7-98FC-B6BEC289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2400"/>
            <a:ext cx="19050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67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28229-535A-4C0C-A994-1FA92B8A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277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EE2E7-4687-4020-BE0A-2A8E1826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8175"/>
            <a:ext cx="701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Solver.step(state_in, state_out, control, contacts, dt)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8BFDE-B89D-43D2-8E5D-1A5C1323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57775"/>
            <a:ext cx="699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MuJoCo / Featherstone  ·  XPBD  ·  VBD  ·  MPM 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0320E-E104-4B6B-BA2B-6CC67444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727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2DBBB-3E32-4359-8FFF-4AE254ED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NVIDIA Warp  /  CPU・CUDA・数组・Kernel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73E8C-2AEB-47A7-B15C-F2712004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rPr>
              <a:t>统一接口，能力有差别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49CF72-0F9E-46C7-8B18-1DA92DF8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机器人、布、软体等由适合的算法处理；不能假设每个 solver 都支持全部对象或可微。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085D3-460A-4B10-9E40-757127F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57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77B37"/>
                </a:solidFill>
                <a:latin typeface="Microsoft YaHei"/>
                <a:ea typeface="Microsoft YaHei"/>
                <a:cs typeface="Microsoft YaHei"/>
              </a:rPr>
              <a:t>多求解器耦合（实验性）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F4142-5BDD-42D5-9CA1-2B4B3106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共享 Model 与对象所有权；</a:t>
            </a:r>
          </a:p>
          <a:p xmlns:a="http://schemas.openxmlformats.org/drawingml/2006/main">
            <a: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Proxy / ADMM 交换</a:t>
            </a:r>
          </a:p>
          <a:p xmlns:a="http://schemas.openxmlformats.org/drawingml/2006/main">
            <a:pPr algn="l">
              <a:def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状态、力与约束。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2CF8C-B20D-4329-8EB3-136FC8E4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rPr>
              <a:t>来源：Newton latest 官方 solver / coupling / API 文档 · 2026.10.28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73128-273E-40F7-AA89-97FAAEB5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7510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FE2A6-A3AB-412B-AAF2-31B99080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Phymeo：统一事务与物理端口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D034F-3ACB-41EE-B762-17D9B068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rPr>
              <a:t>在已验证的数学求解基础上，给可替换算法和学习候选建立明确边界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B44AC-1EBC-453E-B345-DAD10933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B0417-951D-4CEF-AF54-2F89EEEC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模型 / 状态 / 输入 /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77994-C516-441F-83FE-72973870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19050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67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501C1-EF94-410D-A5B1-73D85266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7C211-2044-419A-B3E5-F7D31BE3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SceneStepper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统一子步 · 验证 · 全局提交 / 回滚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500B1-5AFB-4852-AA04-72ADECC8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14750"/>
            <a:ext cx="19050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67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4648D-FAC0-4BE9-B5B8-E97CC940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476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BCB43-855E-4A96-8A44-3798D228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参与者与物理端口</a:t>
            </a:r>
          </a:p>
          <a:p xmlns:a="http://schemas.openxmlformats.org/drawingml/2006/main">
            <a:pPr algn="ctr">
              <a:def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B2B"/>
                </a:solidFill>
                <a:latin typeface="Microsoft YaHei"/>
                <a:ea typeface="Microsoft YaHei"/>
                <a:cs typeface="Microsoft YaHei"/>
              </a:rPr>
              <a:t>机器人 · 布 · 体积软体 · 刚体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17BC5-B001-463C-8051-7FDBA57F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95850"/>
            <a:ext cx="19050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67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1B6C3-A688-4ABF-84C9-5B3B7053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57B1E-F624-4994-B94E-33F9892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NumPy FP64 对照   /   tyx FP32 实际执行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D9216-FF7F-4492-BF4A-C7EC91B9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rPr>
              <a:t>候选→独立验收→提交；失败恢复状态与历史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855BF-9205-4054-A995-4584FA63D413}"/>
              </a:ext>
            </a:extLst>
          </p:cNvPr>
          <p:cNvGraphicFramePr/>
          <p:nvPr/>
        </p:nvGraphicFramePr>
        <p:xfrm>
          <a:off xmlns:a="http://schemas.openxmlformats.org/drawingml/2006/main" x="5829300" y="1895475"/>
          <a:ext xmlns:a="http://schemas.openxmlformats.org/drawingml/2006/main" cx="57531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133600"/>
                <a:gridCol w="2667000"/>
              </a:tblGrid>
              <a:tr h="7048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133350" marR="114300" marT="114300" marB="95250">
                    <a:lnL w="9525">
                      <a:solidFill>
                        <a:srgbClr val="C8D2CD"/>
                      </a:solidFill>
                      <a:prstDash val="solid"/>
                    </a:lnL>
                    <a:lnR w="9525">
                      <a:solidFill>
                        <a:srgbClr val="C8D2CD"/>
                      </a:solidFill>
                      <a:prstDash val="solid"/>
                    </a:lnR>
                    <a:lnT w="9525">
                      <a:solidFill>
                        <a:srgbClr val="C8D2CD"/>
                      </a:solidFill>
                      <a:prstDash val="solid"/>
                    </a:lnT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182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Newton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T w="9525">
                      <a:solidFill>
                        <a:srgbClr val="C8D2CD"/>
                      </a:solidFill>
                      <a:prstDash val="solid"/>
                    </a:lnT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182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Phymeo 当前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T w="9525">
                      <a:solidFill>
                        <a:srgbClr val="C8D2CD"/>
                      </a:solidFill>
                      <a:prstDash val="solid"/>
                    </a:lnT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182B2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计算层</a:t>
                      </a:r>
                    </a:p>
                  </a:txBody>
                  <a:tcPr marL="133350" marR="114300" marT="114300" marB="95250">
                    <a:lnL w="9525">
                      <a:solidFill>
                        <a:srgbClr val="C8D2CD"/>
                      </a:solidFill>
                      <a:prstDash val="solid"/>
                    </a:lnL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E9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Warp / MuJoCo Warp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E9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tyx 公共接口</a:t>
                      </a:r>
                    </a:p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NumPy 独立参考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E9EEE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耦合</a:t>
                      </a:r>
                    </a:p>
                  </a:txBody>
                  <a:tcPr marL="133350" marR="114300" marT="114300" marB="95250">
                    <a:lnL w="9525">
                      <a:solidFill>
                        <a:srgbClr val="C8D2CD"/>
                      </a:solidFill>
                      <a:prstDash val="solid"/>
                    </a:lnL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Model</a:t>
                      </a:r>
                    </a:p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实验性耦合框架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参与者＋物理端口</a:t>
                      </a:r>
                    </a:p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统一子步与事务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</a:t>
                      </a:r>
                    </a:p>
                  </a:txBody>
                  <a:tcPr marL="133350" marR="114300" marT="114300" marB="95250">
                    <a:lnL w="9525">
                      <a:solidFill>
                        <a:srgbClr val="C8D2CD"/>
                      </a:solidFill>
                      <a:prstDash val="solid"/>
                    </a:lnL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E9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多算法＋部分可微路径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E9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数学主路径；学习候选</a:t>
                      </a:r>
                    </a:p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验收/回退合同已打底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E9EEE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</a:t>
                      </a:r>
                    </a:p>
                  </a:txBody>
                  <a:tcPr marL="133350" marR="114300" marT="114300" marB="95250">
                    <a:lnL w="9525">
                      <a:solidFill>
                        <a:srgbClr val="C8D2CD"/>
                      </a:solidFill>
                      <a:prstDash val="solid"/>
                    </a:lnL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多种 solver 与生态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P6 范围已验收</a:t>
                      </a:r>
                    </a:p>
                    <a:p>
                      <a:r>
                        <a:rPr sz="1425" b="0">
                          <a:solidFill>
                            <a:srgbClr val="182B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P6.5 综合接触未闭环</a:t>
                      </a:r>
                    </a:p>
                  </a:txBody>
                  <a:tcPr marL="133350" marR="114300" marT="114300" marB="95250">
                    <a:lnR w="9525">
                      <a:solidFill>
                        <a:srgbClr val="C8D2CD"/>
                      </a:solidFill>
                      <a:prstDash val="solid"/>
                    </a:lnR>
                    <a:lnB w="9525">
                      <a:solidFill>
                        <a:srgbClr val="C8D2CD"/>
                      </a:solidFill>
                      <a:prstDash val="solid"/>
                    </a:lnB>
                    <a:solidFill>
                      <a:srgbClr val="F4F5E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29BBD-FE1F-44E6-ADBD-912BE7C5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667375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7E77"/>
                </a:solidFill>
                <a:latin typeface="Microsoft YaHei"/>
                <a:ea typeface="Microsoft YaHei"/>
                <a:cs typeface="Microsoft YaHei"/>
              </a:rPr>
              <a:t>AI 接口准备 ≠ 已实现 AI 求解加速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5D68C-49CD-4E59-9121-5C029233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010275"/>
            <a:ext cx="575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rPr>
              <a:t>当前无生产 AI 加速或 Warp 等价性能结论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83519-3B66-4D59-AEB8-07EFA52C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rPr>
              <a:t>PHY MEO  ·  10f8cdd  ·  2026.10.28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C129D-CD08-44CC-8D8E-05B721C7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6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5401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5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3A7D7-81C9-4839-AE7E-36D87F4B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P6 已验收，P6.5 正在补齐综合接触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8AFDC-8DBE-4D86-902D-3E8F3484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rPr>
              <a:t>已有真实数值回放；双臂递布尚未形成完整验收轨迹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40B3A-BF83-456A-9780-D89DEB0FA8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1d915a8664770"/>
          <a:srcRect xmlns:a="http://schemas.openxmlformats.org/drawingml/2006/main" l="21661" t="34679" r="24188" b="29216"/>
          <a:stretch xmlns:a="http://schemas.openxmlformats.org/drawingml/2006/main"/>
        </p:blipFill>
        <p:spPr>
          <a:xfrm xmlns:a="http://schemas.openxmlformats.org/drawingml/2006/main">
            <a:off x="609600" y="1933575"/>
            <a:ext cx="5715000" cy="3476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CDE35-8DAF-425A-A137-0A824515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rPr>
              <a:t>画面：P5 · S4 参考回放（关节＋布＋软体）</a:t>
            </a:r>
          </a:p>
          <a:p xmlns:a="http://schemas.openxmlformats.org/drawingml/2006/main">
            <a:pPr algn="l">
              <a:def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2E5DF"/>
                </a:solidFill>
                <a:latin typeface="Microsoft YaHei"/>
                <a:ea typeface="Microsoft YaHei"/>
                <a:cs typeface="Microsoft YaHei"/>
              </a:rPr>
              <a:t>非双臂递布 · 非 Three.js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2A2E2-8B6B-4190-B3EC-633E1E6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FBC"/>
                </a:solidFill>
                <a:latin typeface="Microsoft YaHei"/>
                <a:ea typeface="Microsoft YaHei"/>
                <a:cs typeface="Microsoft YaHei"/>
              </a:rPr>
              <a:t>数值（P6）：S4 CUDA/FP64 最大节点差 24.2 μm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AF124-E390-4B54-9498-2D5964EA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57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76DBBC"/>
                </a:solidFill>
                <a:latin typeface="Microsoft YaHei"/>
                <a:ea typeface="Microsoft YaHei"/>
                <a:cs typeface="Microsoft YaHei"/>
              </a:rPr>
              <a:t>1559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5C8D1-AE21-4B4E-9CE3-F69D91ED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336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rPr>
              <a:t>CUDA 测试套件通过 · 代码快照 10f8cdd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DFCBF-248D-403A-99AD-C1D4AEB8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个基础模块已完成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82DD3-5E96-4112-9150-AF298395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38525"/>
            <a:ext cx="4686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rPr>
              <a:t>端口 · 静态几何 · 多域图</a:t>
            </a:r>
          </a:p>
          <a:p xmlns:a="http://schemas.openxmlformats.org/drawingml/2006/main">
            <a: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rPr>
              <a:t>局部摩擦 · 瞬时接触 · 有限驱动</a:t>
            </a:r>
          </a:p>
          <a:p xmlns:a="http://schemas.openxmlformats.org/drawingml/2006/main">
            <a:pPr algn="l">
              <a:def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rPr>
              <a:t>新增：布厚度速度与反力矩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A79CB-CA91-483E-A3F2-C09610EF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0B574"/>
                </a:solidFill>
                <a:latin typeface="Microsoft YaHei"/>
                <a:ea typeface="Microsoft YaHei"/>
                <a:cs typeface="Microsoft YaHei"/>
              </a:rPr>
              <a:t>Three.js 回放方案（待接入）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E89C3-4EB6-43A2-908B-4E0F1376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62525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rPr>
              <a:t>暂停 / 逐帧 / 相机 / 接触力</a:t>
            </a:r>
          </a:p>
          <a:p xmlns:a="http://schemas.openxmlformats.org/drawingml/2006/main">
            <a:pPr algn="l">
              <a:def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DE1DD"/>
                </a:solidFill>
                <a:latin typeface="Microsoft YaHei"/>
                <a:ea typeface="Microsoft YaHei"/>
                <a:cs typeface="Microsoft YaHei"/>
              </a:rPr>
              <a:t>必须读取真实轨迹；当前不能展示已验证递布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8FC88-0F58-4E00-9E8F-2F26CF0E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3CDCA"/>
                </a:solidFill>
                <a:latin typeface="Microsoft YaHei"/>
                <a:ea typeface="Microsoft YaHei"/>
                <a:cs typeface="Microsoft YaHei"/>
              </a:rPr>
              <a:t>下一步：厚度与动态接触 → CCD / 弯曲 / 自碰撞 → 单爪承重 → 双臂递布与回放</a:t>
            </a:r>
          </a:p>
        </p:txBody>
      </p:sp>
    </p:spTree>
    <p:extLst>
      <p:ext uri="{BB962C8B-B14F-4D97-AF65-F5344CB8AC3E}">
        <p14:creationId xmlns:p14="http://schemas.microsoft.com/office/powerpoint/2010/main" val="2124018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2026-10-28T00:50:05.3070000Z</dcterms:created>
  <dcterms:modified xsi:type="dcterms:W3CDTF">2026-10-28T00:50:05.3070000Z</dcterms:modified>
</coreProperties>
</file>