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9959fa783241b5" /><Relationship Type="http://schemas.openxmlformats.org/officeDocument/2006/relationships/extended-properties" Target="/docProps/app.xml" Id="R75732ceb22f14983" /><Relationship Type="http://schemas.openxmlformats.org/officeDocument/2006/relationships/officeDocument" Target="/ppt/presentation.xml" Id="Ra3e95dd7055f43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92daff339b49e1"/>
  </p:sldMasterIdLst>
  <p:notesMasterIdLst>
    <p:notesMasterId xmlns:r="http://schemas.openxmlformats.org/officeDocument/2006/relationships" r:id="R9151dceb507d4421"/>
  </p:notesMasterIdLst>
  <p:sldIdLst>
    <p:sldId xmlns:r="http://schemas.openxmlformats.org/officeDocument/2006/relationships" id="256" r:id="R298da63387764edd"/>
    <p:sldId xmlns:r="http://schemas.openxmlformats.org/officeDocument/2006/relationships" id="257" r:id="Rff649ddca0e24534"/>
    <p:sldId xmlns:r="http://schemas.openxmlformats.org/officeDocument/2006/relationships" id="258" r:id="R6543494eb2124b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179e417606d43ed" /><Relationship Type="http://schemas.openxmlformats.org/officeDocument/2006/relationships/slideMaster" Target="/ppt/slideMasters/slideMaster1.xml" Id="Rd192daff339b49e1" /><Relationship Type="http://schemas.openxmlformats.org/officeDocument/2006/relationships/notesMaster" Target="/ppt/notesMasters/notesMaster1.xml" Id="R9151dceb507d4421" /><Relationship Type="http://schemas.openxmlformats.org/officeDocument/2006/relationships/presProps" Target="/ppt/presProps.xml" Id="Rc6290b5515f1408a" /><Relationship Type="http://schemas.openxmlformats.org/officeDocument/2006/relationships/tableStyles" Target="/ppt/tableStyles.xml" Id="Rb4802ef819854777" /><Relationship Type="http://schemas.openxmlformats.org/officeDocument/2006/relationships/slide" Target="/ppt/slides/slide1.xml" Id="R298da63387764edd" /><Relationship Type="http://schemas.openxmlformats.org/officeDocument/2006/relationships/slide" Target="/ppt/slides/slide2.xml" Id="Rff649ddca0e24534" /><Relationship Type="http://schemas.openxmlformats.org/officeDocument/2006/relationships/slide" Target="/ppt/slides/slide3.xml" Id="R6543494eb2124b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eb0c3609c045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ce40dfc0cb480e" /><Relationship Type="http://schemas.openxmlformats.org/officeDocument/2006/relationships/notesMaster" Target="/ppt/notesMasters/notesMaster1.xml" Id="Rc414e8e7321d49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b93835202a4f10" /><Relationship Type="http://schemas.openxmlformats.org/officeDocument/2006/relationships/notesMaster" Target="/ppt/notesMasters/notesMaster1.xml" Id="R40082c7a78f54b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91c52b7491240f7" /><Relationship Type="http://schemas.openxmlformats.org/officeDocument/2006/relationships/notesMaster" Target="/ppt/notesMasters/notesMaster1.xml" Id="R04f755033c0145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依据2026-10-28查阅的Newton main/latest官方资料独立归纳，不复制源码。</a:t>
            </a:r>
          </a:p>
          <a:p xmlns:a="http://schemas.openxmlformats.org/drawingml/2006/main">
            <a:r>
              <a:t>https://github.com/newton-physics/newton</a:t>
            </a:r>
          </a:p>
          <a:p xmlns:a="http://schemas.openxmlformats.org/drawingml/2006/main">
            <a:r>
              <a:t>https://newton-physics.github.io/newton/latest/solvers/index.html</a:t>
            </a:r>
          </a:p>
          <a:p xmlns:a="http://schemas.openxmlformats.org/drawingml/2006/main">
            <a:r>
              <a:t>https://newton-physics.github.io/newton/latest/concepts/coupling.html</a:t>
            </a:r>
          </a:p>
          <a:p xmlns:a="http://schemas.openxmlformats.org/drawingml/2006/main">
            <a:r>
              <a:t>https://newton-physics.github.io/newton/latest/concepts/collisions.html</a:t>
            </a:r>
          </a:p>
          <a:p xmlns:a="http://schemas.openxmlformats.org/drawingml/2006/main">
            <a:r>
              <a:t>https://newton-physics.github.io/newton/latest/api/newton.html</a:t>
            </a:r>
          </a:p>
          <a:p xmlns:a="http://schemas.openxmlformats.org/drawingml/2006/main">
            <a:r>
              <a:t>这是架构概括，能力取决于具体solver与版本。Coupled模块为实验性；MuJoCo默认可以使用自己的接触流水线，图中表示通用Newton数据路径而非强制唯一实现。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Phymeo快照：codex/p6-5-handoff，提交73bcda611b5ed6dfe189aa78c28bc9cf31164abe。</a:t>
            </a:r>
          </a:p>
          <a:p xmlns:a="http://schemas.openxmlformats.org/drawingml/2006/main">
            <a:r>
              <a:t>源文件：src/phymeo/runtime/scene_stepper.py；src/phymeo/coupling/participant.py；src/phymeo/coupling/surface_port.py；src/phymeo/coupling/domain_graph.py；src/phymeo/backends/tyx_participants.py；docs/architecture/overview.md；docs/benchmarks/p65-window-delivery.md。</a:t>
            </a:r>
          </a:p>
          <a:p xmlns:a="http://schemas.openxmlformats.org/drawingml/2006/main">
            <a:r>
              <a:t>Newton参考：https://newton-physics.github.io/newton/latest/concepts/coupling.html 与 https://newton-physics.github.io/newton/latest/solvers/index.html 。</a:t>
            </a:r>
          </a:p>
          <a:p xmlns:a="http://schemas.openxmlformats.org/drawingml/2006/main">
            <a:r>
              <a:t>Phymeo从数学原理独立实现；图示强调当前runtime合同，不代表完整物理引擎能力已与Newton等价。tyx设备算术FP32，主机FP64验算只接受/拒绝，不替代设备结果。学习入口有基础合同与小例，未完成生产AI加速。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当前代码与工程快照73bcda6；测试数字见docs/benchmarks/p65-control-engineering.json：CUDA1521，两个Python核心环境各1249；源码外wheel107文件一致；准确最终CI成功。</a:t>
            </a:r>
          </a:p>
          <a:p xmlns:a="http://schemas.openxmlformats.org/drawingml/2006/main">
            <a:r>
              <a:t>P6完整物理对照：S2/S3/S4各200帧400子步，最大节点差4.419/10.902/24.206微米，见docs/benchmarks/p6-device.json及p6-acceptance.md。这些是冻结短场景的精度证据，不是任意复杂场景保证。</a:t>
            </a:r>
          </a:p>
          <a:p xmlns:a="http://schemas.openxmlformats.org/drawingml/2006/main">
            <a:r>
              <a:t>截图来源docs/demos/articulated-s4.png，是既有P5 NumPy参考S4回放的真实截屏；P6沿用同类模型做设备验证。截图不是CUDA画面，不是双臂，不是Three.js，也不是完整网格碰撞。截图在PPT中裁剪以显示主体，未改动仿真内容。</a:t>
            </a:r>
          </a:p>
          <a:p xmlns:a="http://schemas.openxmlformats.org/drawingml/2006/main">
            <a:r>
              <a:t>P6.5六个已验收基础与缺口见docs/benchmarks/p65-window-delivery.md及docs/development/p65-continuation.md。Three.js可显示机器人变换、布网格和接触箭头，但不提供物理正确性。目标是离线真实仿真加同源回放，不是动画或实时求解器。</a:t>
            </a:r>
          </a:p>
          <a:p xmlns:a="http://schemas.openxmlformats.org/drawingml/2006/main">
            <a:r>
              <a:t>Three.js官方文档：https://threejs.org/docs/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781414d55240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1f5298d6bc4d1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48209cd81b4d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ab7faa085045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be9b82fcc42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c5d57562a44c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E823741-4971-4C50-A1A5-2C9B3E0CC4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F5BAD08-5D36-4EDB-8BEF-4F8476390B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8B7D250-DC45-47D2-BEDF-853259EA86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636453-65EA-4931-B2F6-F8406051B1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0B04F5D-AE4F-4357-9C66-FF14503218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C37CC57-BCA4-46A5-BE83-849A12C174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874E09-3009-4213-A05F-F1A5B86275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49C03E2-B7E7-4033-922E-82353B50185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8B9C63-089C-4872-96D5-FFAEC55636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ABACE90-205E-4FD0-9860-E695006E1C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824aff7e534f73" /><Relationship Type="http://schemas.openxmlformats.org/officeDocument/2006/relationships/slideLayout" Target="/ppt/slideLayouts/slideLayout1.xml" Id="R034f2edf44dd47c8" /><Relationship Type="http://schemas.openxmlformats.org/officeDocument/2006/relationships/slideLayout" Target="/ppt/slideLayouts/slideLayout2.xml" Id="Re5035156d54f4510" /><Relationship Type="http://schemas.openxmlformats.org/officeDocument/2006/relationships/slideLayout" Target="/ppt/slideLayouts/slideLayout3.xml" Id="R6b351d29cbfa47a8" /><Relationship Type="http://schemas.openxmlformats.org/officeDocument/2006/relationships/slideLayout" Target="/ppt/slideLayouts/slideLayout4.xml" Id="R48765fd3890d448f" /><Relationship Type="http://schemas.openxmlformats.org/officeDocument/2006/relationships/slideLayout" Target="/ppt/slideLayouts/slideLayout5.xml" Id="Ra4dca10cae7e48a0" /><Relationship Type="http://schemas.openxmlformats.org/officeDocument/2006/relationships/slideLayout" Target="/ppt/slideLayouts/slideLayout6.xml" Id="Rce52ad522f484ed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4f2edf44dd47c8"/>
    <p:sldLayoutId xmlns:r="http://schemas.openxmlformats.org/officeDocument/2006/relationships" id="2147483650" r:id="Re5035156d54f4510"/>
    <p:sldLayoutId xmlns:r="http://schemas.openxmlformats.org/officeDocument/2006/relationships" id="2147483651" r:id="R6b351d29cbfa47a8"/>
    <p:sldLayoutId xmlns:r="http://schemas.openxmlformats.org/officeDocument/2006/relationships" id="2147483652" r:id="R48765fd3890d448f"/>
    <p:sldLayoutId xmlns:r="http://schemas.openxmlformats.org/officeDocument/2006/relationships" id="2147483653" r:id="Ra4dca10cae7e48a0"/>
    <p:sldLayoutId xmlns:r="http://schemas.openxmlformats.org/officeDocument/2006/relationships" id="2147483654" r:id="Rce52ad522f484ed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4aaf7da4f8437c" /><Relationship Type="http://schemas.openxmlformats.org/officeDocument/2006/relationships/notesSlide" Target="/ppt/notesSlides/notesSlide1.xml" Id="R83c52a10df7e44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a77eb6052b4d53" /><Relationship Type="http://schemas.openxmlformats.org/officeDocument/2006/relationships/notesSlide" Target="/ppt/notesSlides/notesSlide2.xml" Id="R96787893bc0f4e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b78998dd59473e" /><Relationship Type="http://schemas.openxmlformats.org/officeDocument/2006/relationships/image" Target="/ppt/media/image.png" Id="R621d1a74fbad4d8c" /><Relationship Type="http://schemas.openxmlformats.org/officeDocument/2006/relationships/notesSlide" Target="/ppt/notesSlides/notesSlide3.xml" Id="R8c2c2ae08c7146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F5259E-8A28-4EFD-81AF-C3686CE1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Newton：共享模型与多求解器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F50020-A324-4179-863F-3459E928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建模、状态、碰撞与算法分层；Warp 是共同计算底座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9F4DF-AAAF-4772-8D7B-F2BE2D53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14525"/>
            <a:ext cx="20193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E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DF09F-BC2C-41DA-8647-7903B193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1752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URDF / MJCF / USD</a:t>
            </a:r>
          </a:p>
          <a:p xmlns:a="http://schemas.openxmlformats.org/drawingml/2006/main">
            <a:pPr algn="ctr">
              <a:def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程序化场景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35B7AF-7C2A-48AC-8EA5-10F18E3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00275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3E2FD-7065-46ED-A715-C9D1E784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914525"/>
            <a:ext cx="20574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E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311EC-F1C9-4D9E-A8D1-77906BB9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38350"/>
            <a:ext cx="1790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ModelBuilder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6954C-354B-4820-8A6E-50639ECAD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00275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60078E-3978-4214-945C-1C86230B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14525"/>
            <a:ext cx="20574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E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E0649-9466-4055-A925-A2441DC9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38350"/>
            <a:ext cx="1790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Model</a:t>
            </a:r>
          </a:p>
          <a:p xmlns:a="http://schemas.openxmlformats.org/drawingml/2006/main">
            <a: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拓扑 · 质量 · 材料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7E5B32-41E4-419A-84E7-7FBBB0F5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33675"/>
            <a:ext cx="190500" cy="2571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DD4CBC-97D5-4E23-9752-1D562CB1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Model 初始化状态与求解器；碰撞检测读取当前状态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1D732-AA5D-445A-B869-6DF97E45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28765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676E4A-1F58-4A97-8970-1EB2B3D3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48025"/>
            <a:ext cx="2609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State / Control</a:t>
            </a:r>
          </a:p>
          <a:p xmlns:a="http://schemas.openxmlformats.org/drawingml/2006/main">
            <a: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当前状态与驱动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891472-9D78-490C-9BF6-0AAFD6ED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24200"/>
            <a:ext cx="41529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A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EFC9F8-CC72-4EC2-9469-5D91AE8D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48025"/>
            <a:ext cx="3886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CollisionPipeline → Contacts</a:t>
            </a:r>
          </a:p>
          <a:p xmlns:a="http://schemas.openxmlformats.org/drawingml/2006/main">
            <a:pPr algn="ctr">
              <a:def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几何接触交给求解器消费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784276-5E3E-4F86-AA77-D6243D32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962400"/>
            <a:ext cx="190500" cy="2571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912CE8-EAC4-40CC-9187-93E6DE66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62400"/>
            <a:ext cx="190500" cy="2571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CD674F-6F7A-40B3-8181-F9E49051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7277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B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3BF677-5A44-4E90-9E4D-0E3CD1D9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48175"/>
            <a:ext cx="701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Solver.step(state_in, state_out, control, contacts, dt)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EA5A03-E440-469A-85F8-84A76C8A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057775"/>
            <a:ext cx="6991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MuJoCo / Featherstone  ·  XPBD  ·  VBD  ·  MPM 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02F56D-0677-4FB3-9333-A8EA961A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7277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C74FAA-E459-4B4C-85D5-D4888857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673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NVIDIA Warp  /  CPU・CUDA・数组・Kernel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691FC8-24E6-41D8-A658-5F4A3254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526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rPr>
              <a:t>统一接口，能力有差别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B9FE41-0BEF-4ECA-B756-F9722789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57450"/>
            <a:ext cx="2952750" cy="1133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机器人、布、软体等由适合的算法处理；不能假设每个 solver 都支持全部对象或可微。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821A5C-C432-4425-8BBA-94D479CD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857625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477B37"/>
                </a:solidFill>
                <a:latin typeface="Microsoft YaHei"/>
                <a:ea typeface="Microsoft YaHei"/>
                <a:cs typeface="Microsoft YaHei"/>
              </a:rPr>
              <a:t>多求解器耦合（实验性）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DE095B-EC58-4D0B-9E00-3A17276B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95800"/>
            <a:ext cx="2952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共享 Model 与对象所有权；</a:t>
            </a:r>
          </a:p>
          <a:p xmlns:a="http://schemas.openxmlformats.org/drawingml/2006/main">
            <a: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Proxy / ADMM 交换</a:t>
            </a:r>
          </a:p>
          <a:p xmlns:a="http://schemas.openxmlformats.org/drawingml/2006/main">
            <a:pPr algn="l">
              <a:def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状态、力与约束。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637D3F-57AC-45E2-B424-6728365D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来源：Newton latest 官方 solver / coupling / API 文档 · 2026.10.28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4C14C1-539A-4491-970F-99800596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362226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2AA572-181D-4933-929F-332F07C2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Phymeo：统一事务与物理端口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D7340-4920-473E-A44C-C4DB94D2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在已验证的数学求解基础上，给可替换算法和学习候选建立明确边界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ED2908-61F3-475E-BDF0-2DB46DD1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C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6ADF6-B343-4689-8DF0-0C673CB6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449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模型 / 状态 / 输入 /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DAFFE-5480-48A4-8708-B75D385D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476500"/>
            <a:ext cx="190500" cy="2571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66184-3FED-41EF-9489-9E57B3E1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4762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2D8AD8-E02E-4425-A5C7-722998C1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62275"/>
            <a:ext cx="4495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SceneStepper</a:t>
            </a:r>
          </a:p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统一子步 · 验证 · 全局提交 / 回滚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5C574-4A4F-4347-B600-963E3145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714750"/>
            <a:ext cx="190500" cy="2571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BE677B-EF86-47A1-9A09-5C0A9B86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476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C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D6660C-64E8-4609-B364-F67EBA65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4495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参与者与物理端口</a:t>
            </a:r>
          </a:p>
          <a:p xmlns:a="http://schemas.openxmlformats.org/drawingml/2006/main">
            <a:pPr algn="ctr">
              <a:def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82B2B"/>
                </a:solidFill>
                <a:latin typeface="Microsoft YaHei"/>
                <a:ea typeface="Microsoft YaHei"/>
                <a:cs typeface="Microsoft YaHei"/>
              </a:rPr>
              <a:t>机器人 · 布 · 体积软体 · 刚体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4EA93-B8C6-4EBD-B79B-A4C04071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895850"/>
            <a:ext cx="190500" cy="2571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67E7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6AE01-240A-4238-BA98-332FC076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476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C824B7-7535-42A0-ACD4-7AF7557FF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91150"/>
            <a:ext cx="449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NumPy FP64 对照   /   tyx FP32 实际执行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40544-3D7B-4048-AE1A-383964F8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4857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候选→独立验收→提交；失败恢复状态与历史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A4289-C29E-4CBB-839F-768EC474D0DA}"/>
              </a:ext>
            </a:extLst>
          </p:cNvPr>
          <p:cNvGraphicFramePr/>
          <p:nvPr/>
        </p:nvGraphicFramePr>
        <p:xfrm>
          <a:off xmlns:a="http://schemas.openxmlformats.org/drawingml/2006/main" x="5829300" y="1895475"/>
          <a:ext xmlns:a="http://schemas.openxmlformats.org/drawingml/2006/main" cx="57531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52500"/>
                <a:gridCol w="2133600"/>
                <a:gridCol w="2667000"/>
              </a:tblGrid>
              <a:tr h="704850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边界</a:t>
                      </a:r>
                    </a:p>
                  </a:txBody>
                  <a:tcPr marL="133350" marR="114300" marT="114300" marB="95250">
                    <a:lnL w="9525">
                      <a:solidFill>
                        <a:srgbClr val="C8D2CD"/>
                      </a:solidFill>
                      <a:prstDash val="solid"/>
                    </a:lnL>
                    <a:lnR w="9525">
                      <a:solidFill>
                        <a:srgbClr val="C8D2CD"/>
                      </a:solidFill>
                      <a:prstDash val="solid"/>
                    </a:lnR>
                    <a:lnT w="9525">
                      <a:solidFill>
                        <a:srgbClr val="C8D2CD"/>
                      </a:solidFill>
                      <a:prstDash val="solid"/>
                    </a:lnT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18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Newton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T w="9525">
                      <a:solidFill>
                        <a:srgbClr val="C8D2CD"/>
                      </a:solidFill>
                      <a:prstDash val="solid"/>
                    </a:lnT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182B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Phymeo 当前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T w="9525">
                      <a:solidFill>
                        <a:srgbClr val="C8D2CD"/>
                      </a:solidFill>
                      <a:prstDash val="solid"/>
                    </a:lnT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182B2B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计算层</a:t>
                      </a:r>
                    </a:p>
                  </a:txBody>
                  <a:tcPr marL="133350" marR="114300" marT="114300" marB="95250">
                    <a:lnL w="9525">
                      <a:solidFill>
                        <a:srgbClr val="C8D2CD"/>
                      </a:solidFill>
                      <a:prstDash val="solid"/>
                    </a:lnL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E9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Warp / MuJoCo Warp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E9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tyx 公共接口</a:t>
                      </a:r>
                    </a:p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NumPy 独立参考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E9EEE7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耦合</a:t>
                      </a:r>
                    </a:p>
                  </a:txBody>
                  <a:tcPr marL="133350" marR="114300" marT="114300" marB="95250">
                    <a:lnL w="9525">
                      <a:solidFill>
                        <a:srgbClr val="C8D2CD"/>
                      </a:solidFill>
                      <a:prstDash val="solid"/>
                    </a:lnL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F4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 Model</a:t>
                      </a:r>
                    </a:p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实验性耦合框架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F4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参与者＋物理端口</a:t>
                      </a:r>
                    </a:p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统一子步与事务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F4F5EF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学习</a:t>
                      </a:r>
                    </a:p>
                  </a:txBody>
                  <a:tcPr marL="133350" marR="114300" marT="114300" marB="95250">
                    <a:lnL w="9525">
                      <a:solidFill>
                        <a:srgbClr val="C8D2CD"/>
                      </a:solidFill>
                      <a:prstDash val="solid"/>
                    </a:lnL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E9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多算法＋部分可微路径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E9EE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数学主路径；学习候选</a:t>
                      </a:r>
                    </a:p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验收/回退合同已打底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E9EEE7"/>
                    </a:solidFill>
                  </a:tcPr>
                </a:tc>
              </a:tr>
              <a:tr h="704850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覆盖</a:t>
                      </a:r>
                    </a:p>
                  </a:txBody>
                  <a:tcPr marL="133350" marR="114300" marT="114300" marB="95250">
                    <a:lnL w="9525">
                      <a:solidFill>
                        <a:srgbClr val="C8D2CD"/>
                      </a:solidFill>
                      <a:prstDash val="solid"/>
                    </a:lnL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F4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多种 solver 与生态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F4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 范围已验收</a:t>
                      </a:r>
                    </a:p>
                    <a:p>
                      <a:r>
                        <a:rPr sz="1425" b="0">
                          <a:solidFill>
                            <a:srgbClr val="182B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P6.5 综合接触未闭环</a:t>
                      </a:r>
                    </a:p>
                  </a:txBody>
                  <a:tcPr marL="133350" marR="114300" marT="114300" marB="95250">
                    <a:lnR w="9525">
                      <a:solidFill>
                        <a:srgbClr val="C8D2CD"/>
                      </a:solidFill>
                      <a:prstDash val="solid"/>
                    </a:lnR>
                    <a:lnB w="9525">
                      <a:solidFill>
                        <a:srgbClr val="C8D2CD"/>
                      </a:solidFill>
                      <a:prstDash val="solid"/>
                    </a:lnB>
                    <a:solidFill>
                      <a:srgbClr val="F4F5E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D9C743-A73E-4CB2-9A9A-8FDE5743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67375"/>
            <a:ext cx="575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67E77"/>
                </a:solidFill>
                <a:latin typeface="Microsoft YaHei"/>
                <a:ea typeface="Microsoft YaHei"/>
                <a:cs typeface="Microsoft YaHei"/>
              </a:rPr>
              <a:t>AI 接口准备 ≠ 已实现 AI 求解加速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97286C-DD2F-46EF-A6D8-34A0FB9E7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010275"/>
            <a:ext cx="575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当前无生产 AI 加速或 Warp 等价性能结论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0F08C6-59A7-4A8F-A06F-65F8C8B9C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34125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PHY MEO  ·  73bcda6  ·  2026.10.28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6D037-56CA-417F-AE67-F7CBD3A2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96025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6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031706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5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F4938-8411-45B2-B833-0EB0BC96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P6 已验收，P6.5 正在补齐综合接触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09148-8E73-4599-AB0A-74C3EEF5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rPr>
              <a:t>已有真实数值回放；双臂递布尚未形成完整验收轨迹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3FE6E-AF11-4451-B8B8-0DC51334F4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d1a74fbad4d8c"/>
          <a:srcRect xmlns:a="http://schemas.openxmlformats.org/drawingml/2006/main" l="21661" t="34679" r="24188" b="29216"/>
          <a:stretch xmlns:a="http://schemas.openxmlformats.org/drawingml/2006/main"/>
        </p:blipFill>
        <p:spPr>
          <a:xfrm xmlns:a="http://schemas.openxmlformats.org/drawingml/2006/main">
            <a:off x="609600" y="1933575"/>
            <a:ext cx="5715000" cy="3476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1B152-AC9F-4008-9386-07EB6335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rPr>
              <a:t>画面：P5 · S4 参考回放（关节＋布＋软体）</a:t>
            </a:r>
          </a:p>
          <a:p xmlns:a="http://schemas.openxmlformats.org/drawingml/2006/main">
            <a:pPr algn="l">
              <a:def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2E5DF"/>
                </a:solidFill>
                <a:latin typeface="Microsoft YaHei"/>
                <a:ea typeface="Microsoft YaHei"/>
                <a:cs typeface="Microsoft YaHei"/>
              </a:rPr>
              <a:t>非双臂递布 · 非 Three.js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3E695-944C-4315-9A2D-A578B39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FBC"/>
                </a:solidFill>
                <a:latin typeface="Microsoft YaHei"/>
                <a:ea typeface="Microsoft YaHei"/>
                <a:cs typeface="Microsoft YaHei"/>
              </a:rPr>
              <a:t>数值（P6）：S4 CUDA/FP64 最大节点差 24.2 μm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08BDE-0E28-4A6D-BAFB-E49C79F3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857375"/>
            <a:ext cx="209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275" b="1">
                <a:solidFill>
                  <a:srgbClr val="76DBBC"/>
                </a:solidFill>
                <a:latin typeface="Microsoft YaHei"/>
                <a:ea typeface="Microsoft YaHei"/>
                <a:cs typeface="Microsoft YaHei"/>
              </a:rPr>
              <a:t>1521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750BCD-1E7A-4835-87B8-834FC2AC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53365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rPr>
              <a:t>CUDA 测试套件通过 · 代码快照 73bcda6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194BCE-E4EB-4DDE-8A77-98380854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0990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个基础模块已完成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BD1EF3-9A95-41DC-8039-965F547B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76625"/>
            <a:ext cx="46863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rPr>
              <a:t>端口 · 静态几何 · 多域图</a:t>
            </a:r>
          </a:p>
          <a:p xmlns:a="http://schemas.openxmlformats.org/drawingml/2006/main">
            <a: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rPr>
              <a:t>局部摩擦 · 瞬时接触 · 有限驱动核心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3E51D1-E07E-433B-9717-0818A86C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495800"/>
            <a:ext cx="476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0B574"/>
                </a:solidFill>
                <a:latin typeface="Microsoft YaHei"/>
                <a:ea typeface="Microsoft YaHei"/>
                <a:cs typeface="Microsoft YaHei"/>
              </a:rPr>
              <a:t>Three.js 回放方案（待接入）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B675A-E307-4CD8-B0FF-E05160A4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62525"/>
            <a:ext cx="4648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rPr>
              <a:t>暂停 / 逐帧 / 相机 / 接触力</a:t>
            </a:r>
          </a:p>
          <a:p xmlns:a="http://schemas.openxmlformats.org/drawingml/2006/main">
            <a:pPr algn="l">
              <a:def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CDE1DD"/>
                </a:solidFill>
                <a:latin typeface="Microsoft YaHei"/>
                <a:ea typeface="Microsoft YaHei"/>
                <a:cs typeface="Microsoft YaHei"/>
              </a:rPr>
              <a:t>必须读取真实轨迹；当前不能展示已验证递布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CC50B-9CF9-4FE3-882F-2EDFEF2C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5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B3CDCA"/>
                </a:solidFill>
                <a:latin typeface="Microsoft YaHei"/>
                <a:ea typeface="Microsoft YaHei"/>
                <a:cs typeface="Microsoft YaHei"/>
              </a:rPr>
              <a:t>下一步：厚度与动态接触 → CCD / 弯曲 / 自碰撞 → 单爪承重 → 双臂递布与回放</a:t>
            </a:r>
          </a:p>
        </p:txBody>
      </p:sp>
    </p:spTree>
    <p:extLst>
      <p:ext uri="{BB962C8B-B14F-4D97-AF65-F5344CB8AC3E}">
        <p14:creationId xmlns:p14="http://schemas.microsoft.com/office/powerpoint/2010/main" val="19664255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2026-10-28T00:23:13.0350000Z</dcterms:created>
  <dcterms:modified xsi:type="dcterms:W3CDTF">2026-10-28T00:23:13.0350000Z</dcterms:modified>
</coreProperties>
</file>